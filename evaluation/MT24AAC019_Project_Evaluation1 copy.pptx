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85" r:id="rId5"/>
    <p:sldId id="259" r:id="rId6"/>
    <p:sldId id="266" r:id="rId7"/>
    <p:sldId id="280" r:id="rId8"/>
    <p:sldId id="274" r:id="rId9"/>
    <p:sldId id="276" r:id="rId10"/>
    <p:sldId id="284" r:id="rId11"/>
    <p:sldId id="282" r:id="rId12"/>
    <p:sldId id="283" r:id="rId13"/>
    <p:sldId id="261" r:id="rId14"/>
    <p:sldId id="270" r:id="rId15"/>
    <p:sldId id="281" r:id="rId16"/>
    <p:sldId id="286" r:id="rId17"/>
    <p:sldId id="263" r:id="rId18"/>
    <p:sldId id="2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B1902CDF-5E03-5541-86A1-D0EC6C0F02D6}">
          <p14:sldIdLst/>
        </p14:section>
        <p14:section name="Default Section" id="{BCF2AA37-C126-864E-B817-E1D90BFCA5F0}">
          <p14:sldIdLst>
            <p14:sldId id="256"/>
            <p14:sldId id="257"/>
          </p14:sldIdLst>
        </p14:section>
        <p14:section name="Introduction" id="{5A6A4E6F-EBFA-1145-958E-3226B578165D}">
          <p14:sldIdLst>
            <p14:sldId id="258"/>
            <p14:sldId id="285"/>
          </p14:sldIdLst>
        </p14:section>
        <p14:section name="Objective of the Project and Architecture" id="{BF94F72A-E4CF-8948-A207-C2ECF1D49F04}">
          <p14:sldIdLst>
            <p14:sldId id="259"/>
            <p14:sldId id="266"/>
          </p14:sldIdLst>
        </p14:section>
        <p14:section name="Why research is needed ?" id="{838FA1D4-7B28-C342-AF15-5E28DDAFF7D0}">
          <p14:sldIdLst>
            <p14:sldId id="280"/>
            <p14:sldId id="274"/>
          </p14:sldIdLst>
        </p14:section>
        <p14:section name="Literature survey" id="{4FB49367-701E-E544-9B10-A5AFDA82B907}">
          <p14:sldIdLst>
            <p14:sldId id="276"/>
            <p14:sldId id="284"/>
          </p14:sldIdLst>
        </p14:section>
        <p14:section name="Proposed solution" id="{9661363F-B84C-F34C-BCBF-706572512B8A}">
          <p14:sldIdLst>
            <p14:sldId id="282"/>
            <p14:sldId id="283"/>
          </p14:sldIdLst>
        </p14:section>
        <p14:section name="Timeline of the project" id="{2467D3CD-0E62-844E-AFC4-1B1751BF2F14}">
          <p14:sldIdLst>
            <p14:sldId id="261"/>
            <p14:sldId id="270"/>
          </p14:sldIdLst>
        </p14:section>
        <p14:section name="Project details and Conclusion" id="{35B84299-A2CE-944A-BA65-4B63D0EF74B2}">
          <p14:sldIdLst>
            <p14:sldId id="281"/>
            <p14:sldId id="286"/>
          </p14:sldIdLst>
        </p14:section>
        <p14:section name="References" id="{DA06CE97-108B-B646-A7C0-8422D64BF43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40" autoAdjust="0"/>
    <p:restoredTop sz="85776"/>
  </p:normalViewPr>
  <p:slideViewPr>
    <p:cSldViewPr snapToGrid="0">
      <p:cViewPr varScale="1">
        <p:scale>
          <a:sx n="102" d="100"/>
          <a:sy n="102" d="100"/>
        </p:scale>
        <p:origin x="10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12/03/26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12/03/26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12/03/26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12/03/26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12/03/26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12/03/26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12/03/26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12/03/26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12/03/26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12/03/26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12/03/26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12/03/26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5.xml"/><Relationship Id="rId7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7.xml"/><Relationship Id="rId9" Type="http://schemas.openxmlformats.org/officeDocument/2006/relationships/slide" Target="slide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iSudhaV/Ecommerce-AI-Communication-Framework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399637" y="2540021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875660" y="2810598"/>
            <a:ext cx="104406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Hybrid AI Framework</a:t>
            </a:r>
          </a:p>
          <a:p>
            <a:pPr algn="ctr"/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Predictive and Explainable Customer Communication Optimization in E-Commerce</a:t>
            </a:r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00139" y="3909576"/>
            <a:ext cx="455631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Sai Sudha </a:t>
            </a:r>
            <a:r>
              <a:rPr lang="en-US" sz="2400" b="1" dirty="0" err="1">
                <a:solidFill>
                  <a:srgbClr val="002060"/>
                </a:solidFill>
              </a:rPr>
              <a:t>Vadisina</a:t>
            </a:r>
            <a:r>
              <a:rPr lang="en-US" sz="2400" b="1" dirty="0">
                <a:solidFill>
                  <a:srgbClr val="002060"/>
                </a:solidFill>
              </a:rPr>
              <a:t> (MT24AAC019)</a:t>
            </a:r>
          </a:p>
          <a:p>
            <a:pPr algn="ctr"/>
            <a:r>
              <a:rPr lang="en-US" sz="2000" b="1" dirty="0" err="1"/>
              <a:t>DevOPs</a:t>
            </a:r>
            <a:r>
              <a:rPr lang="en-US" sz="2000" b="1" dirty="0"/>
              <a:t> Engineer III in Amazon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36133" y="5400139"/>
            <a:ext cx="26843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>
                <a:solidFill>
                  <a:srgbClr val="002060"/>
                </a:solidFill>
              </a:rPr>
              <a:t>Dr.Pradnya</a:t>
            </a:r>
            <a:r>
              <a:rPr lang="en-US" sz="2400" b="1" dirty="0">
                <a:solidFill>
                  <a:srgbClr val="002060"/>
                </a:solidFill>
              </a:rPr>
              <a:t> H Ghare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524358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and Communications</a:t>
            </a:r>
          </a:p>
          <a:p>
            <a:pPr algn="ctr"/>
            <a:r>
              <a:rPr lang="en-US" sz="2000" b="1" u="sng" dirty="0"/>
              <a:t>Cohort 3B sem. 3, Summer 2026</a:t>
            </a:r>
          </a:p>
          <a:p>
            <a:pPr algn="ctr"/>
            <a:r>
              <a:rPr lang="en-US" sz="2000" b="1" u="sng" dirty="0"/>
              <a:t>Eval. 1 (/03/2026)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 action="ppaction://hlinksldjump"/>
              </a:rPr>
              <a:t>Introduction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Objective for the project and architecture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Why research is needed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Literature survey</a:t>
            </a:r>
            <a:endParaRPr lang="en-US" dirty="0"/>
          </a:p>
          <a:p>
            <a:r>
              <a:rPr lang="en-US" dirty="0">
                <a:hlinkClick r:id="rId6" action="ppaction://hlinksldjump"/>
              </a:rPr>
              <a:t>Proposed Solution</a:t>
            </a:r>
            <a:endParaRPr lang="en-US" dirty="0"/>
          </a:p>
          <a:p>
            <a:r>
              <a:rPr lang="en-US" dirty="0">
                <a:hlinkClick r:id="rId7" action="ppaction://hlinksldjump"/>
              </a:rPr>
              <a:t>Timeline of the project</a:t>
            </a:r>
            <a:endParaRPr lang="en-US" dirty="0"/>
          </a:p>
          <a:p>
            <a:r>
              <a:rPr lang="en-US" dirty="0">
                <a:hlinkClick r:id="rId8" action="ppaction://hlinksldjump"/>
              </a:rPr>
              <a:t>Conclusion</a:t>
            </a:r>
            <a:endParaRPr lang="en-US" dirty="0"/>
          </a:p>
          <a:p>
            <a:r>
              <a:rPr lang="en-US" dirty="0">
                <a:hlinkClick r:id="rId9" action="ppaction://hlinksldjump"/>
              </a:rPr>
              <a:t>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E-commerce platforms manage high-volume customer communications</a:t>
            </a:r>
          </a:p>
          <a:p>
            <a:r>
              <a:rPr lang="en-US" dirty="0"/>
              <a:t>Existing systems are reactive and rule-based, where sentiment detection alone is insufficient</a:t>
            </a:r>
          </a:p>
          <a:p>
            <a:r>
              <a:rPr lang="en-US" dirty="0"/>
              <a:t>Need for predictive and proactive AI-driven communication optimization</a:t>
            </a:r>
          </a:p>
          <a:p>
            <a:r>
              <a:rPr lang="en-US" dirty="0"/>
              <a:t>Our system acts as frontline defense for the customers and advertisers.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A3775-A0EC-D661-973D-FD58A6BAA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405A-AC2D-E66C-1BA4-F30CABBCA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95AC-5A14-B47E-D0EC-970F6CE1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there are 100 customers facing issues and 20 are the genuine issues where support team has to pitch in and investigate.</a:t>
            </a:r>
          </a:p>
          <a:p>
            <a:r>
              <a:rPr lang="en-US" dirty="0"/>
              <a:t>Support team can’t address all of them at a stretch, they might take 2 or more days to address all of them.</a:t>
            </a:r>
          </a:p>
          <a:p>
            <a:r>
              <a:rPr lang="en-US" dirty="0"/>
              <a:t>Enabling the automation will filter out the issues where human intervention is not required.</a:t>
            </a:r>
          </a:p>
          <a:p>
            <a:r>
              <a:rPr lang="en-US" dirty="0"/>
              <a:t>This improves the efficiency by addressing the issue in minutes and customer feels more satisfied.</a:t>
            </a:r>
          </a:p>
          <a:p>
            <a:r>
              <a:rPr lang="en-US" dirty="0"/>
              <a:t>Here the customers can be the advertisers or the consumers.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6A0EB-2674-7660-2A8B-711D458A0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9500D-4F7D-9A57-A6FB-2789F7DF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16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hybrid AI framework for e-commerce communication</a:t>
            </a:r>
          </a:p>
          <a:p>
            <a:r>
              <a:rPr lang="en-US" dirty="0"/>
              <a:t>Predict escalation, dissatisfaction, and churn</a:t>
            </a:r>
          </a:p>
          <a:p>
            <a:r>
              <a:rPr lang="en-US" dirty="0"/>
              <a:t>Optimize routing and response strategies</a:t>
            </a:r>
          </a:p>
          <a:p>
            <a:r>
              <a:rPr lang="en-US" dirty="0"/>
              <a:t>Integrate structured + unstructured data</a:t>
            </a:r>
          </a:p>
          <a:p>
            <a:r>
              <a:rPr lang="en-US" dirty="0"/>
              <a:t>Enable explainable AI-based decision support</a:t>
            </a:r>
          </a:p>
          <a:p>
            <a:r>
              <a:rPr lang="en-US" dirty="0"/>
              <a:t>Customer satisfaction improves.</a:t>
            </a:r>
          </a:p>
          <a:p>
            <a:r>
              <a:rPr lang="en-US" dirty="0"/>
              <a:t>Manual effort from support reduces as they can focus on the actual issues.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7CF1-53B3-9EDF-EBD0-AAC900B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85109E-9939-C3C3-8855-45663FAD0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17" t="12012" r="16839" b="6883"/>
          <a:stretch>
            <a:fillRect/>
          </a:stretch>
        </p:blipFill>
        <p:spPr>
          <a:xfrm>
            <a:off x="3344450" y="1332923"/>
            <a:ext cx="3607495" cy="53178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930F-1F93-CD6C-D87E-A8655B60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2BE96-5FFF-CE0D-B9AB-2809772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65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43DFF-9421-9C4A-A8EA-24395A317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8" y="159620"/>
            <a:ext cx="10515600" cy="1325563"/>
          </a:xfrm>
        </p:spPr>
        <p:txBody>
          <a:bodyPr/>
          <a:lstStyle/>
          <a:p>
            <a:r>
              <a:rPr lang="en-US" dirty="0"/>
              <a:t>Need for Research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D13B-299E-22BA-FAEC-AF57B1C3E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FFEEE-74C3-6689-A266-BD8636A83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E5219-F3A3-7574-9420-F924A426E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156"/>
            <a:ext cx="10515600" cy="4351338"/>
          </a:xfrm>
        </p:spPr>
        <p:txBody>
          <a:bodyPr/>
          <a:lstStyle/>
          <a:p>
            <a:r>
              <a:rPr lang="en-US" dirty="0"/>
              <a:t>Rapid growth in e-commerce customer interactions</a:t>
            </a:r>
          </a:p>
          <a:p>
            <a:r>
              <a:rPr lang="en-US" dirty="0"/>
              <a:t>High operational cost of customer support</a:t>
            </a:r>
          </a:p>
          <a:p>
            <a:r>
              <a:rPr lang="en-US" dirty="0"/>
              <a:t>Existing systems are reactive and rule-based</a:t>
            </a:r>
          </a:p>
          <a:p>
            <a:r>
              <a:rPr lang="en-US" dirty="0"/>
              <a:t>Sentiment detection alone is insufficient</a:t>
            </a:r>
          </a:p>
          <a:p>
            <a:r>
              <a:rPr lang="en-US" dirty="0"/>
              <a:t>No integrated predictive + optimization framework</a:t>
            </a:r>
          </a:p>
          <a:p>
            <a:r>
              <a:rPr lang="en-US" dirty="0"/>
              <a:t>Need for proactive, explainable AI-driven communication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43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Identified Gaps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Reactive Communication Systems</a:t>
            </a:r>
          </a:p>
          <a:p>
            <a:r>
              <a:rPr lang="en-US" dirty="0"/>
              <a:t>Limited Explainability</a:t>
            </a:r>
          </a:p>
          <a:p>
            <a:r>
              <a:rPr lang="en-US" dirty="0"/>
              <a:t>Absence of Optimization Layer</a:t>
            </a:r>
          </a:p>
          <a:p>
            <a:r>
              <a:rPr lang="en-US" dirty="0"/>
              <a:t>No Structured + Unstructured Data Fusion</a:t>
            </a:r>
          </a:p>
          <a:p>
            <a:r>
              <a:rPr lang="en-US" dirty="0"/>
              <a:t>Lack of Predictive Modeling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AC9B4-9480-0802-E447-57F4BB90D0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331570-3EA6-25EF-F67E-3B78E547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6536-C554-96E2-3F00-C92A75C5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446D-06A5-E9F1-3DB2-777823B0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1AB3-ABD3-17D4-2C88-F7006FA3F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Existing research addresses isolated problems, but lacks an integrated, predictive, and explainable communication optimization framework for e-commerce systems: </a:t>
            </a:r>
          </a:p>
          <a:p>
            <a:pPr lvl="1"/>
            <a:r>
              <a:rPr lang="en-US" b="1" dirty="0"/>
              <a:t>Conversational AI in Customer Service</a:t>
            </a:r>
          </a:p>
          <a:p>
            <a:pPr lvl="2"/>
            <a:r>
              <a:rPr lang="en-US" dirty="0"/>
              <a:t>Deep learning improves intent detection and automation</a:t>
            </a:r>
          </a:p>
          <a:p>
            <a:pPr lvl="2"/>
            <a:r>
              <a:rPr lang="en-US" dirty="0"/>
              <a:t>Transformer models widely adopted</a:t>
            </a:r>
          </a:p>
          <a:p>
            <a:pPr lvl="2"/>
            <a:r>
              <a:rPr lang="en-US" dirty="0"/>
              <a:t>Focus mainly on classification tasks</a:t>
            </a:r>
          </a:p>
          <a:p>
            <a:pPr lvl="2"/>
            <a:r>
              <a:rPr lang="en-US" dirty="0"/>
              <a:t>Limited predictive outcome modeling</a:t>
            </a:r>
          </a:p>
          <a:p>
            <a:pPr lvl="1"/>
            <a:r>
              <a:rPr lang="en-US" b="1" dirty="0"/>
              <a:t>Sentiment Analysis in E-Commerce</a:t>
            </a:r>
          </a:p>
          <a:p>
            <a:pPr lvl="2"/>
            <a:r>
              <a:rPr lang="en-US" dirty="0"/>
              <a:t>Sentiment strongly correlates with satisfaction</a:t>
            </a:r>
          </a:p>
          <a:p>
            <a:pPr lvl="2"/>
            <a:r>
              <a:rPr lang="en-US" dirty="0"/>
              <a:t>Context-aware models improve accuracy</a:t>
            </a:r>
          </a:p>
          <a:p>
            <a:pPr lvl="2"/>
            <a:r>
              <a:rPr lang="en-US" dirty="0"/>
              <a:t>Primarily text-based analysis</a:t>
            </a:r>
          </a:p>
          <a:p>
            <a:pPr lvl="2"/>
            <a:r>
              <a:rPr lang="en-US" dirty="0"/>
              <a:t>No integration with behavioral features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C8F58-D5C3-0132-BC4A-99B2AB2E9B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F74AA-19FE-87FE-9F4C-4EDEFE8E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23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26E1-1182-42E9-D52D-49BB4BF9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4BA46-9417-BE1E-A071-D712AC635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 -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EDFC85-1851-0024-DB00-360FC14E8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b="1" dirty="0"/>
              <a:t>Churn Prediction Using Machine Learning</a:t>
            </a:r>
          </a:p>
          <a:p>
            <a:pPr lvl="2"/>
            <a:r>
              <a:rPr lang="en-US" dirty="0"/>
              <a:t>Structured transactional features used</a:t>
            </a:r>
          </a:p>
          <a:p>
            <a:pPr lvl="2"/>
            <a:r>
              <a:rPr lang="en-US" dirty="0"/>
              <a:t>Supervised ML models show good performance</a:t>
            </a:r>
          </a:p>
          <a:p>
            <a:pPr lvl="2"/>
            <a:r>
              <a:rPr lang="en-US" dirty="0"/>
              <a:t>Does not incorporate conversational text context</a:t>
            </a:r>
          </a:p>
          <a:p>
            <a:pPr lvl="1"/>
            <a:r>
              <a:rPr lang="en-US" b="1" dirty="0"/>
              <a:t>Explainable AI in Decision Systems</a:t>
            </a:r>
          </a:p>
          <a:p>
            <a:pPr lvl="2"/>
            <a:r>
              <a:rPr lang="en-US" dirty="0"/>
              <a:t>SHAP/LIME improve model transparency</a:t>
            </a:r>
          </a:p>
          <a:p>
            <a:pPr lvl="2"/>
            <a:r>
              <a:rPr lang="en-US" dirty="0"/>
              <a:t>Important for trust and accountability</a:t>
            </a:r>
          </a:p>
          <a:p>
            <a:pPr lvl="2"/>
            <a:r>
              <a:rPr lang="en-US" dirty="0"/>
              <a:t>Rarely integrated into customer communication systems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F5828-B759-7AF1-1482-43E08C44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2BC3F4-964A-0E16-BC03-D0B5DD580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65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F9DD8-5AC1-C1FA-1632-062F192EA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1EE22-B431-4B23-0048-9109FF607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F7FFD-BE8D-EE37-3DAB-7DBEBB631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are developing a </a:t>
            </a:r>
            <a:r>
              <a:rPr lang="en-US" b="1" dirty="0"/>
              <a:t>Hybrid AI Framework</a:t>
            </a:r>
            <a:r>
              <a:rPr lang="en-US" dirty="0"/>
              <a:t> that:</a:t>
            </a:r>
          </a:p>
          <a:p>
            <a:pPr lvl="1"/>
            <a:r>
              <a:rPr lang="en-US" dirty="0"/>
              <a:t>Understands customer communication (NLP)</a:t>
            </a:r>
          </a:p>
          <a:p>
            <a:pPr lvl="1"/>
            <a:r>
              <a:rPr lang="en-US" dirty="0"/>
              <a:t>Predicts future outcomes (churn, escalation, dissatisfaction)</a:t>
            </a:r>
          </a:p>
          <a:p>
            <a:pPr lvl="1"/>
            <a:r>
              <a:rPr lang="en-US" dirty="0"/>
              <a:t>Suggests the best response strategy</a:t>
            </a:r>
          </a:p>
          <a:p>
            <a:pPr lvl="1"/>
            <a:r>
              <a:rPr lang="en-US" dirty="0"/>
              <a:t>Explains why the decision was made</a:t>
            </a:r>
          </a:p>
          <a:p>
            <a:r>
              <a:rPr lang="en-US" dirty="0"/>
              <a:t>The goal is to move from </a:t>
            </a:r>
            <a:r>
              <a:rPr lang="en-US" b="1" dirty="0"/>
              <a:t>reactive automation</a:t>
            </a:r>
            <a:r>
              <a:rPr lang="en-US" dirty="0"/>
              <a:t> to </a:t>
            </a:r>
            <a:r>
              <a:rPr lang="en-US" b="1" dirty="0"/>
              <a:t>proactive decision support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1C5C8-A4A3-CE65-80AD-2ECFED3C2E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047232-3EDF-67DE-F521-BAA2978F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55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B5EB4-8857-EC76-1A29-3DAB35FD7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F5053-2BED-9827-4653-96E7BF3D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are we achieving?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5BD51-1732-A429-A3E9-0A62EE1FB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is to move from </a:t>
            </a:r>
            <a:r>
              <a:rPr lang="en-US" b="1" dirty="0"/>
              <a:t>reactive automation</a:t>
            </a:r>
            <a:r>
              <a:rPr lang="en-US" dirty="0"/>
              <a:t> to </a:t>
            </a:r>
            <a:r>
              <a:rPr lang="en-US" b="1" dirty="0"/>
              <a:t>proactive decision support</a:t>
            </a:r>
            <a:r>
              <a:rPr lang="en-US" dirty="0"/>
              <a:t>.</a:t>
            </a:r>
          </a:p>
          <a:p>
            <a:endParaRPr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246E-86A2-4CCD-CF1F-D5DC67CC0B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IN" dirty="0"/>
              <a:t>25/02/26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95ABD-FB10-C5DB-9775-77081554E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DFF62C7C-9FA6-4436-90F7-C7370BED1EB3}" type="slidenum">
              <a:rPr lang="en-US" smtClean="0"/>
              <a:t>12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E50E86F-B776-4E4F-6B2F-86C460F63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543804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161424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2639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Gaps identified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Our Proposed Solution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52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Focus only on sentiment/intent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predictive models for churn &amp; escalation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711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Text-only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Combine text + behavioral &amp; transactional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391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No optimization of response strategy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Introduce risk-based prioritization &amp; routing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242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Black-box AI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Integrate SHAP/LIME for explainability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78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Isolated models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Build unified end-to-end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53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6113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992" y="136525"/>
            <a:ext cx="10515600" cy="1325563"/>
          </a:xfrm>
        </p:spPr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F7E48C-DD43-6D7C-D561-0DCF1917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794995"/>
              </p:ext>
            </p:extLst>
          </p:nvPr>
        </p:nvGraphicFramePr>
        <p:xfrm>
          <a:off x="838200" y="1336244"/>
          <a:ext cx="10515600" cy="4641976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268786">
                  <a:extLst>
                    <a:ext uri="{9D8B030D-6E8A-4147-A177-3AD203B41FA5}">
                      <a16:colId xmlns:a16="http://schemas.microsoft.com/office/drawing/2014/main" val="2851245147"/>
                    </a:ext>
                  </a:extLst>
                </a:gridCol>
                <a:gridCol w="5124563">
                  <a:extLst>
                    <a:ext uri="{9D8B030D-6E8A-4147-A177-3AD203B41FA5}">
                      <a16:colId xmlns:a16="http://schemas.microsoft.com/office/drawing/2014/main" val="2369017176"/>
                    </a:ext>
                  </a:extLst>
                </a:gridCol>
                <a:gridCol w="3122251">
                  <a:extLst>
                    <a:ext uri="{9D8B030D-6E8A-4147-A177-3AD203B41FA5}">
                      <a16:colId xmlns:a16="http://schemas.microsoft.com/office/drawing/2014/main" val="2874862991"/>
                    </a:ext>
                  </a:extLst>
                </a:gridCol>
              </a:tblGrid>
              <a:tr h="3640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4213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Literature review &amp; objective abstraction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82759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Architecture design&amp; dataset identification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🟡 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09944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preprocessing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95360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NLP model development(sentiment and intent)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26778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Feature engineering &amp; Paper 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30913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Predictive ML models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4435555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Optimization engine design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973851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Benchmarking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536316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Explainability integration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919067"/>
                  </a:ext>
                </a:extLst>
              </a:tr>
              <a:tr h="33607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System evaluation &amp; dashboard creation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098330"/>
                  </a:ext>
                </a:extLst>
              </a:tr>
              <a:tr h="5881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Paper2, Document preparation &amp; final evaluation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🔜 Planned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8091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13F6-F75E-3074-7AA9-CBAE368E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DA6B-D007-9258-492C-F0264687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2EF9-2F83-0E67-723E-08CFCDDB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12/03/26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9B5E9-83CE-F945-34A2-87157258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D4113A-34F0-7441-26D3-725DE1876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8946" r="694"/>
          <a:stretch>
            <a:fillRect/>
          </a:stretch>
        </p:blipFill>
        <p:spPr>
          <a:xfrm>
            <a:off x="531275" y="1690688"/>
            <a:ext cx="11129449" cy="324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855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6E057-A79A-582A-6006-760E8CAB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A6C74-1DD9-2B4E-8FBA-377E3F6FD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proposed solution transforms customer support from reactive response handling to proactive, intelligent communication management.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0BA61-85B1-4B9A-41B6-A5AA3616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3FCF84-AF9C-3A2A-1989-BB33D0D3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19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0C07-91AE-E1CC-C040-6841937CD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6280B-B918-9453-CF8E-E4AAE46F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4FD06-F421-E8AC-6B13-69DA45C95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https://github.com/SaiSudhaV/Ecommerce-AI-Communication-Framework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6FBF5-ED99-BEC4-1144-78F5BE59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19CD-B2C1-17D7-8EAE-5E7392405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4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Guidotti, R.,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Monreale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Ruggieri, S., Turini, F.,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Pedreschi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Giannotti, F. (2018). A Survey Of Methods For Explaining Black Box Models. ACM Computing Surveys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Graßl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Survey on Reinforcement Learning for Dialogue Systems (2019). A Survey on Reinforcement Learning for Dialogue Systems. 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Nirala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 K., et al. (2022). A survey on providing customer and public administration services using chatbots. (PubMed Central).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Oliveira, J. M., et al. (2024). Evaluating the Effectiveness of Time Series Transformers for Demand Forecasting in Retail. (Research preprint / conference).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Recent works on churn prediction in e-commerce — e.g., E-commerce Customers Churn Prediction Using Machine Learning (2025).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Hengst, F., et al. (2019). Reinforcement Learning for Personalized Dialogue.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ACM).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Caetano, R., et al. (2025). Transformer-Based Models for Probabilistic Time Series Forecasting. MDPI / Mathematics.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22/02/26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9918</TotalTime>
  <Words>941</Words>
  <Application>Microsoft Macintosh PowerPoint</Application>
  <PresentationFormat>Widescreen</PresentationFormat>
  <Paragraphs>184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Table of Contents:</vt:lpstr>
      <vt:lpstr>Introduction</vt:lpstr>
      <vt:lpstr>Sample Scenario</vt:lpstr>
      <vt:lpstr>Objective of the Project</vt:lpstr>
      <vt:lpstr>Architecture</vt:lpstr>
      <vt:lpstr>Need for Research</vt:lpstr>
      <vt:lpstr>Identified Gaps</vt:lpstr>
      <vt:lpstr>Literature Survey</vt:lpstr>
      <vt:lpstr>Literature Survey - (contd.)</vt:lpstr>
      <vt:lpstr>Proposed Solution</vt:lpstr>
      <vt:lpstr>How are we achieving?</vt:lpstr>
      <vt:lpstr>Timeline of the project</vt:lpstr>
      <vt:lpstr>Timeline of the project</vt:lpstr>
      <vt:lpstr>Conclusion</vt:lpstr>
      <vt:lpstr>Project link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Vadisina, Sai Sudha Reddy</cp:lastModifiedBy>
  <cp:revision>16</cp:revision>
  <dcterms:created xsi:type="dcterms:W3CDTF">2025-05-09T09:30:28Z</dcterms:created>
  <dcterms:modified xsi:type="dcterms:W3CDTF">2026-03-12T07:16:08Z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2025-09-20T02:45:16Z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ded7b103-b5fe-4394-8bf7-72955552c03b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