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6" r:id="rId6"/>
    <p:sldId id="280" r:id="rId7"/>
    <p:sldId id="274" r:id="rId8"/>
    <p:sldId id="287" r:id="rId9"/>
    <p:sldId id="284" r:id="rId10"/>
    <p:sldId id="288" r:id="rId11"/>
    <p:sldId id="289" r:id="rId12"/>
    <p:sldId id="261" r:id="rId13"/>
    <p:sldId id="270" r:id="rId14"/>
    <p:sldId id="281" r:id="rId15"/>
    <p:sldId id="286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Section" id="{B1902CDF-5E03-5541-86A1-D0EC6C0F02D6}">
          <p14:sldIdLst/>
        </p14:section>
        <p14:section name="Default Section" id="{BCF2AA37-C126-864E-B817-E1D90BFCA5F0}">
          <p14:sldIdLst>
            <p14:sldId id="256"/>
            <p14:sldId id="257"/>
          </p14:sldIdLst>
        </p14:section>
        <p14:section name="Introduction" id="{5A6A4E6F-EBFA-1145-958E-3226B578165D}">
          <p14:sldIdLst>
            <p14:sldId id="258"/>
          </p14:sldIdLst>
        </p14:section>
        <p14:section name="Objective of the Project and Architecture" id="{BF94F72A-E4CF-8948-A207-C2ECF1D49F04}">
          <p14:sldIdLst>
            <p14:sldId id="259"/>
            <p14:sldId id="266"/>
          </p14:sldIdLst>
        </p14:section>
        <p14:section name="Why research is needed ?" id="{838FA1D4-7B28-C342-AF15-5E28DDAFF7D0}">
          <p14:sldIdLst>
            <p14:sldId id="280"/>
            <p14:sldId id="274"/>
          </p14:sldIdLst>
        </p14:section>
        <p14:section name="Project Progress" id="{4FB49367-701E-E544-9B10-A5AFDA82B907}">
          <p14:sldIdLst>
            <p14:sldId id="287"/>
            <p14:sldId id="284"/>
            <p14:sldId id="288"/>
          </p14:sldIdLst>
        </p14:section>
        <p14:section name="Paper presentation" id="{9661363F-B84C-F34C-BCBF-706572512B8A}">
          <p14:sldIdLst>
            <p14:sldId id="289"/>
          </p14:sldIdLst>
        </p14:section>
        <p14:section name="Timeline of the project" id="{2467D3CD-0E62-844E-AFC4-1B1751BF2F14}">
          <p14:sldIdLst>
            <p14:sldId id="261"/>
            <p14:sldId id="270"/>
          </p14:sldIdLst>
        </p14:section>
        <p14:section name="Project details and Conclusion" id="{35B84299-A2CE-944A-BA65-4B63D0EF74B2}">
          <p14:sldIdLst>
            <p14:sldId id="281"/>
            <p14:sldId id="286"/>
          </p14:sldIdLst>
        </p14:section>
        <p14:section name="References" id="{DA06CE97-108B-B646-A7C0-8422D64BF436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4" autoAdjust="0"/>
    <p:restoredTop sz="85776"/>
  </p:normalViewPr>
  <p:slideViewPr>
    <p:cSldViewPr snapToGrid="0">
      <p:cViewPr varScale="1">
        <p:scale>
          <a:sx n="102" d="100"/>
          <a:sy n="102" d="100"/>
        </p:scale>
        <p:origin x="1072" y="168"/>
      </p:cViewPr>
      <p:guideLst/>
    </p:cSldViewPr>
  </p:slideViewPr>
  <p:outlineViewPr>
    <p:cViewPr>
      <p:scale>
        <a:sx n="33" d="100"/>
        <a:sy n="33" d="100"/>
      </p:scale>
      <p:origin x="0" y="-8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6934E-70FA-4538-A02C-6D23660C659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39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6934E-70FA-4538-A02C-6D23660C659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37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3B61-4C44-3616-1AC4-C7CC3BF2E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54BAA-3310-F145-D7E8-407BE7A8C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D1936-0F2E-C439-E548-CFD53B7E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  <a:t>17/04/26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D223-AEE9-D9F3-0FB8-2233981B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B56C0-95DA-C0B4-06CB-E2F8B88C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8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C530-BFBD-D911-D13F-1DEF32C9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0B04-D807-19A7-D4BF-A659AAE9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9AFE-01A0-26E5-8CAC-7482B13E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17/04/26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D45E-7FAD-1807-D9D8-BBF6E5B0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8C32-1772-09AD-F4DE-476E16C4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9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4C01-4AC2-6116-0AD9-93C0FD29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99DB3-08BF-2AEF-7A0F-AD74D52FB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96CE1-B866-F4B0-8962-AC5E9E52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  <a:t>17/04/26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9EFB-92F2-4D07-49EE-D98E4844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9EA3D-FB0A-EB4E-5F85-9495D2D3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5BEA-68CE-B4BE-8C0B-181E8649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ABC7-4A63-A566-3785-6559B06B2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228D3-6E45-DB2C-BB3B-BAA0B9118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E9BE3-40A2-9A7B-F76A-80A6B6E4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  <a:t>17/04/26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C0015-153D-B1D8-B807-2D590105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5B12-040B-C002-C167-6C0CB979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E4F0-C6F9-4CF9-DB3C-B9AE667F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E50C1-8915-E2E3-EC48-350BDEFD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AA6D-E647-1289-B7FA-2160CB52B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A7124-6A08-EE9C-3EB1-EC65D6D58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B6355-DC6D-2A3F-9982-4AFFCEA04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52CB4-6FBD-2CFA-88AB-4D9E3023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  <a:t>17/04/26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51D8B-EB32-A6DF-76E2-C071E289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03264-D13E-EE93-263D-49174BDE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5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75E6-D681-2A9A-620E-CDF62386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00742-2F34-9A7E-3B72-DD9B99FB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  <a:t>17/04/26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EC0CE-65E0-DA56-82C2-C346336B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63F5-82B3-6B30-ACCC-F40675E1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0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D7BA8-2288-AD52-43C9-9A3733CA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  <a:t>17/04/26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826F2-EAEF-2ABE-6098-39328C77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606DF-EBD9-CF42-132C-C58F7AE5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8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A436-0B60-5394-66F7-D3AD37EA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81C5-C1B0-33C0-BFD5-01EFFF96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18742-ADB3-0B75-8984-568826E8E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FC35D-1D44-AF23-AC6B-FCD323AE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  <a:t>17/04/26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B7CBE-5D82-F6FF-4E6E-43A0465A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D0FB4-F448-8CDC-7F15-93F16FE2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BD8C-4B08-B6E4-12C1-42AFC087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5F7AA-E1B6-CD28-147F-A07AAB685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11745-CF18-7A73-A711-4CA20579C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B14D6-9A62-EA95-CF75-13B857F3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  <a:t>17/04/26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A6000-EE39-14EE-19EA-BE817F48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5B818-FF6B-00D6-B3FC-CEB1498F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7BAB-24CE-1AB4-BA1D-AEF76E15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0F43B-E46E-03EB-BA3E-905EF412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25BE-2892-06CB-84A5-DDEAF744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  <a:t>17/04/26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A3150-F890-2FA8-B62C-5F0CEFD5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612A-9787-0402-9853-C97C2A60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7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DD120-F9C6-8E2C-2C65-9A38B856A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E0655-DA98-9FB1-71C1-05897537F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4160-6B54-C6F6-FBEB-E1BA0E60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  <a:t>17/04/26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20681-3DB1-5C1B-E254-8A61D9FD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7005-DA7B-402D-4786-AAF70A19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1F2D6-763B-493B-CD73-9D443DD2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A00E5-A473-9799-552C-F58E2962E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51AB-16AB-98B9-E037-B8C5B5C45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  <a:t>17/04/26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A0CE-110F-2CE5-41CB-91E468AA5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6B8AD-DEF5-801A-0B7B-4E581CEAE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64867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4.xml"/><Relationship Id="rId7" Type="http://schemas.openxmlformats.org/officeDocument/2006/relationships/slide" Target="slide1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SaiSudhaV/Ecommerce-AI-Communication-Framework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>
            <a:extLst>
              <a:ext uri="{FF2B5EF4-FFF2-40B4-BE49-F238E27FC236}">
                <a16:creationId xmlns:a16="http://schemas.microsoft.com/office/drawing/2014/main" id="{0836F0EA-D4C7-0822-44C4-05C129DB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25" y="375458"/>
            <a:ext cx="1026825" cy="102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C0998-21F0-E3C1-F812-EE94F9B7CC2B}"/>
              </a:ext>
            </a:extLst>
          </p:cNvPr>
          <p:cNvSpPr txBox="1"/>
          <p:nvPr/>
        </p:nvSpPr>
        <p:spPr>
          <a:xfrm>
            <a:off x="2653249" y="504151"/>
            <a:ext cx="68855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Visvesvaraya National Institute of Technology, Nagpur</a:t>
            </a:r>
          </a:p>
          <a:p>
            <a:pPr algn="ctr"/>
            <a:r>
              <a:rPr lang="en-US" sz="2000" b="1" dirty="0">
                <a:latin typeface="+mj-lt"/>
              </a:rPr>
              <a:t>Electronics and Communication Engineering Department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436944-9102-B8DD-4937-53CE23F863CD}"/>
              </a:ext>
            </a:extLst>
          </p:cNvPr>
          <p:cNvCxnSpPr/>
          <p:nvPr/>
        </p:nvCxnSpPr>
        <p:spPr>
          <a:xfrm>
            <a:off x="399637" y="2540021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CC8E6D-9AC9-207F-5269-04FCA0C97961}"/>
              </a:ext>
            </a:extLst>
          </p:cNvPr>
          <p:cNvSpPr txBox="1"/>
          <p:nvPr/>
        </p:nvSpPr>
        <p:spPr>
          <a:xfrm>
            <a:off x="875660" y="2810598"/>
            <a:ext cx="104406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Hybrid AI Framework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Predictive and Explainable Customer Communication Optimization in E-Commerce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C08EE-8491-1D44-274A-D679D012EA7B}"/>
              </a:ext>
            </a:extLst>
          </p:cNvPr>
          <p:cNvSpPr txBox="1"/>
          <p:nvPr/>
        </p:nvSpPr>
        <p:spPr>
          <a:xfrm>
            <a:off x="3900139" y="3909576"/>
            <a:ext cx="455631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Presented by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Sai Sudha </a:t>
            </a:r>
            <a:r>
              <a:rPr lang="en-US" sz="2400" b="1" dirty="0" err="1">
                <a:solidFill>
                  <a:srgbClr val="002060"/>
                </a:solidFill>
              </a:rPr>
              <a:t>Vadisina</a:t>
            </a:r>
            <a:r>
              <a:rPr lang="en-US" sz="2400" b="1" dirty="0">
                <a:solidFill>
                  <a:srgbClr val="002060"/>
                </a:solidFill>
              </a:rPr>
              <a:t> (MT24AAC019)</a:t>
            </a:r>
          </a:p>
          <a:p>
            <a:pPr algn="ctr"/>
            <a:r>
              <a:rPr lang="en-US" sz="2000" b="1" dirty="0" err="1"/>
              <a:t>DevOPs</a:t>
            </a:r>
            <a:r>
              <a:rPr lang="en-US" sz="2000" b="1" dirty="0"/>
              <a:t> Engineer III in Amazon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6906C1-A200-6BB6-2FA3-502611F915AB}"/>
              </a:ext>
            </a:extLst>
          </p:cNvPr>
          <p:cNvSpPr txBox="1"/>
          <p:nvPr/>
        </p:nvSpPr>
        <p:spPr>
          <a:xfrm>
            <a:off x="4836133" y="5400139"/>
            <a:ext cx="268432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Under the supervision of</a:t>
            </a:r>
          </a:p>
          <a:p>
            <a:pPr algn="ctr"/>
            <a:r>
              <a:rPr lang="en-US" sz="2400" b="1">
                <a:solidFill>
                  <a:srgbClr val="002060"/>
                </a:solidFill>
              </a:rPr>
              <a:t>Dr.Pradnya</a:t>
            </a:r>
            <a:r>
              <a:rPr lang="en-US" sz="2400" b="1" dirty="0">
                <a:solidFill>
                  <a:srgbClr val="002060"/>
                </a:solidFill>
              </a:rPr>
              <a:t> H Ghare</a:t>
            </a:r>
          </a:p>
          <a:p>
            <a:pPr algn="ctr"/>
            <a:r>
              <a:rPr lang="en-US" sz="2400" b="1" dirty="0"/>
              <a:t>VNIT Nagpur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113255-FBC0-1E35-5573-1F7195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B8CB38-AB1E-3F70-E960-86C496A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E005E-64E3-E478-B34F-E79F94A13EA5}"/>
              </a:ext>
            </a:extLst>
          </p:cNvPr>
          <p:cNvSpPr txBox="1"/>
          <p:nvPr/>
        </p:nvSpPr>
        <p:spPr>
          <a:xfrm>
            <a:off x="3048762" y="1524358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/>
              <a:t>Executive </a:t>
            </a:r>
            <a:r>
              <a:rPr lang="en-US" sz="2000" b="1" u="sng" dirty="0" err="1"/>
              <a:t>M.Tech</a:t>
            </a:r>
            <a:r>
              <a:rPr lang="en-US" sz="2000" b="1" u="sng" dirty="0"/>
              <a:t>. in Applied AI and Communications</a:t>
            </a:r>
          </a:p>
          <a:p>
            <a:pPr algn="ctr"/>
            <a:r>
              <a:rPr lang="en-US" sz="2000" b="1" u="sng" dirty="0"/>
              <a:t>Cohort 3B sem. 3, Summer 2026</a:t>
            </a:r>
          </a:p>
          <a:p>
            <a:pPr algn="ctr"/>
            <a:r>
              <a:rPr lang="en-US" sz="2000" b="1" u="sng" dirty="0"/>
              <a:t>Eval. 2 (18/04/2026)</a:t>
            </a:r>
          </a:p>
        </p:txBody>
      </p:sp>
    </p:spTree>
    <p:extLst>
      <p:ext uri="{BB962C8B-B14F-4D97-AF65-F5344CB8AC3E}">
        <p14:creationId xmlns:p14="http://schemas.microsoft.com/office/powerpoint/2010/main" val="150075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8DC1-2314-1936-E491-A2AA6117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 action="ppaction://hlinksldjump"/>
              </a:rPr>
              <a:t>Introduction</a:t>
            </a:r>
            <a:endParaRPr lang="en-US" dirty="0"/>
          </a:p>
          <a:p>
            <a:r>
              <a:rPr lang="en-US" dirty="0">
                <a:hlinkClick r:id="rId3" action="ppaction://hlinksldjump"/>
              </a:rPr>
              <a:t>Objective for the project and architecture</a:t>
            </a:r>
            <a:endParaRPr lang="en-US" dirty="0"/>
          </a:p>
          <a:p>
            <a:r>
              <a:rPr lang="en-US" dirty="0">
                <a:hlinkClick r:id="rId4" action="ppaction://hlinksldjump"/>
              </a:rPr>
              <a:t>Why research is needed</a:t>
            </a:r>
            <a:endParaRPr lang="en-US" dirty="0"/>
          </a:p>
          <a:p>
            <a:r>
              <a:rPr lang="en-US" dirty="0">
                <a:hlinkClick r:id="rId5" action="ppaction://hlinksldjump"/>
              </a:rPr>
              <a:t>Project Progress</a:t>
            </a:r>
            <a:endParaRPr lang="en-US" dirty="0"/>
          </a:p>
          <a:p>
            <a:r>
              <a:rPr lang="en-US" dirty="0">
                <a:hlinkClick r:id="rId5" action="ppaction://hlinksldjump"/>
              </a:rPr>
              <a:t>Proposed Solution</a:t>
            </a:r>
            <a:endParaRPr lang="en-US" dirty="0"/>
          </a:p>
          <a:p>
            <a:r>
              <a:rPr lang="en-US" dirty="0">
                <a:hlinkClick r:id="rId6" action="ppaction://hlinksldjump"/>
              </a:rPr>
              <a:t>Timeline of the project</a:t>
            </a:r>
            <a:endParaRPr lang="en-US" dirty="0"/>
          </a:p>
          <a:p>
            <a:r>
              <a:rPr lang="en-US" dirty="0">
                <a:hlinkClick r:id="rId7" action="ppaction://hlinksldjump"/>
              </a:rPr>
              <a:t>Conclusion</a:t>
            </a:r>
            <a:endParaRPr lang="en-US" dirty="0"/>
          </a:p>
          <a:p>
            <a:r>
              <a:rPr lang="en-US" dirty="0">
                <a:hlinkClick r:id="rId8" action="ppaction://hlinksldjump"/>
              </a:rPr>
              <a:t>References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1843-B53B-E0B7-2406-AAA2AAA7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B015-3B0B-52FB-DD1A-3EE8D91A2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E-commerce platforms manage high-volume customer communications</a:t>
            </a:r>
          </a:p>
          <a:p>
            <a:r>
              <a:rPr lang="en-US" dirty="0"/>
              <a:t>Existing systems are reactive and rule-based, where sentiment detection alone is insufficient</a:t>
            </a:r>
          </a:p>
          <a:p>
            <a:r>
              <a:rPr lang="en-US" dirty="0"/>
              <a:t>Need for predictive and proactive AI-driven communication optimization</a:t>
            </a:r>
          </a:p>
          <a:p>
            <a:r>
              <a:rPr lang="en-US" dirty="0"/>
              <a:t>Our system acts as frontline defense for the customers and advertisers.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B601-FBC2-B8E9-2FB1-0DE4D9B2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31EA7-2FE7-15EE-F4AF-F046C74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9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DF40-F19A-D2C4-F90B-6FECAFED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5D0E4-AD5D-FDC4-B83F-60970BD27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hybrid AI framework for e-commerce communication</a:t>
            </a:r>
          </a:p>
          <a:p>
            <a:r>
              <a:rPr lang="en-US" dirty="0"/>
              <a:t>Predict escalation, dissatisfaction, and churn</a:t>
            </a:r>
          </a:p>
          <a:p>
            <a:r>
              <a:rPr lang="en-US" dirty="0"/>
              <a:t>Optimize routing and response strategies</a:t>
            </a:r>
          </a:p>
          <a:p>
            <a:r>
              <a:rPr lang="en-US" dirty="0"/>
              <a:t>Integrate structured + unstructured data</a:t>
            </a:r>
          </a:p>
          <a:p>
            <a:r>
              <a:rPr lang="en-US" dirty="0"/>
              <a:t>Enable explainable AI-based decision support</a:t>
            </a:r>
          </a:p>
          <a:p>
            <a:r>
              <a:rPr lang="en-US" dirty="0"/>
              <a:t>Customer satisfaction improves.</a:t>
            </a:r>
          </a:p>
          <a:p>
            <a:r>
              <a:rPr lang="en-US" dirty="0"/>
              <a:t>Manual effort from support reduces as they can focus on the actual issues.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E45DA-79AD-441F-6D6A-F73E0276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1713A-7AC8-8392-67DB-8688851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7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7CF1-53B3-9EDF-EBD0-AAC900B6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85109E-9939-C3C3-8855-45663FAD0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17" t="12012" r="16839" b="6883"/>
          <a:stretch>
            <a:fillRect/>
          </a:stretch>
        </p:blipFill>
        <p:spPr>
          <a:xfrm>
            <a:off x="3344450" y="1332923"/>
            <a:ext cx="3607495" cy="531784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F930F-1F93-CD6C-D87E-A8655B60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2BE96-5FFF-CE0D-B9AB-28097721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65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3DFF-9421-9C4A-A8EA-24395A31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98" y="159620"/>
            <a:ext cx="10515600" cy="1325563"/>
          </a:xfrm>
        </p:spPr>
        <p:txBody>
          <a:bodyPr/>
          <a:lstStyle/>
          <a:p>
            <a:r>
              <a:rPr lang="en-US" dirty="0"/>
              <a:t>Need for Research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7D13B-299E-22BA-FAEC-AF57B1C3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FFEEE-74C3-6689-A266-BD8636A8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E5219-F3A3-7574-9420-F924A426E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156"/>
            <a:ext cx="10515600" cy="4351338"/>
          </a:xfrm>
        </p:spPr>
        <p:txBody>
          <a:bodyPr/>
          <a:lstStyle/>
          <a:p>
            <a:r>
              <a:rPr lang="en-US" dirty="0"/>
              <a:t>Rapid growth in e-commerce customer interactions</a:t>
            </a:r>
          </a:p>
          <a:p>
            <a:r>
              <a:rPr lang="en-US" dirty="0"/>
              <a:t>High operational cost of customer support</a:t>
            </a:r>
          </a:p>
          <a:p>
            <a:r>
              <a:rPr lang="en-US" dirty="0"/>
              <a:t>Existing systems are reactive and rule-based</a:t>
            </a:r>
          </a:p>
          <a:p>
            <a:r>
              <a:rPr lang="en-US" dirty="0"/>
              <a:t>Sentiment detection alone is insufficient</a:t>
            </a:r>
          </a:p>
          <a:p>
            <a:r>
              <a:rPr lang="en-US" dirty="0"/>
              <a:t>No integrated predictive + optimization framework</a:t>
            </a:r>
          </a:p>
          <a:p>
            <a:r>
              <a:rPr lang="en-US" dirty="0"/>
              <a:t>Need for proactive, explainable AI-driven communication system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843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Identified Gaps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Reactive Communication Systems</a:t>
            </a:r>
          </a:p>
          <a:p>
            <a:r>
              <a:rPr lang="en-US" dirty="0"/>
              <a:t>Limited Explainability</a:t>
            </a:r>
          </a:p>
          <a:p>
            <a:r>
              <a:rPr lang="en-US" dirty="0"/>
              <a:t>Absence of Optimization Layer</a:t>
            </a:r>
          </a:p>
          <a:p>
            <a:r>
              <a:rPr lang="en-US" dirty="0"/>
              <a:t>No Structured + Unstructured Data Fusion</a:t>
            </a:r>
          </a:p>
          <a:p>
            <a:r>
              <a:rPr lang="en-US" dirty="0"/>
              <a:t>Lack of Predictive Modeling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AC9B4-9480-0802-E447-57F4BB90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25/02/26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31570-3EA6-25EF-F67E-3B78E547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6143-5C69-92F6-8A43-6A117320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5BFA-4B6B-BB06-045A-8D8C5B78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Status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4CC84-9EC0-7F14-190E-AFA7F41E2D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D47BA-ED48-1A98-8DDF-6E31B008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A100FE3-0BC4-F50F-BD27-B3F3383EC8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21359"/>
            <a:ext cx="10134600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 collection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Dataset Validation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Data preprocessing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Data readiness for NLP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965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26E1-1182-42E9-D52D-49BB4BF9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4BA46-9417-BE1E-A071-D712AC63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F5828-B759-7AF1-1482-43E08C44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BC3F4-964A-0E16-BC03-D0B5DD58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C86E277-B935-E1DA-0E29-CD6DF591C5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362"/>
            <a:ext cx="10134600" cy="3788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Key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Features Identified: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Text features → sentiment, intent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Behavioral features → frequency, response delay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Transactional features → order value, returns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Target Variables (Planned):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Churn probability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Escalation likelihood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Customer dissatisfaction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65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909E2-20AE-1FBE-F8C8-EEBA6817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03565-A8C6-B0E4-72E0-C8C07B527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813D6-7F38-9651-4BEB-8B34EE90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16644-63E5-2C62-879C-C83A740AC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38FCA5-0E14-DD47-87CB-F6ED15D80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9187"/>
            <a:ext cx="1071649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Multi-source Data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Combined customer chats, transactional data, and behavioral logs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duplicates and irrelevant records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 and inconsistent formats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Preprocessing (NLP)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Tokenization and lowercasing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 word removal and basic text normalization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sentiment-related indicators (planned)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 behavioral features (interaction frequency, response time)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Encoding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categorical variables into numerical format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structured + unstructured data for unified analysis</a:t>
            </a:r>
          </a:p>
        </p:txBody>
      </p:sp>
    </p:spTree>
    <p:extLst>
      <p:ext uri="{BB962C8B-B14F-4D97-AF65-F5344CB8AC3E}">
        <p14:creationId xmlns:p14="http://schemas.microsoft.com/office/powerpoint/2010/main" val="2403723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2C7F2-F52C-38B4-8BAB-7F3A6EDE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DA46-DAC6-4EB0-1931-35DFBFA77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55027-9292-36A7-1CCE-A91BF24E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0DF03-1F62-D0B2-B4FE-207C172A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43144A-FC73-F141-A09A-E871418E71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839406"/>
            <a:ext cx="10515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contents planned to be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published as part of the phase-I are: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Multi-model data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Communication-Centric feature engineering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Context linking between text and actions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Tempora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feature const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ruction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339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0912-4C78-DD2D-0E07-FEABCF7D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992" y="136525"/>
            <a:ext cx="10515600" cy="1325563"/>
          </a:xfrm>
        </p:spPr>
        <p:txBody>
          <a:bodyPr/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0860-8BC4-2948-19A4-344A852B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0629-6098-89B0-A771-7C08AB63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F7E48C-DD43-6D7C-D561-0DCF19172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280478"/>
              </p:ext>
            </p:extLst>
          </p:nvPr>
        </p:nvGraphicFramePr>
        <p:xfrm>
          <a:off x="838200" y="1336244"/>
          <a:ext cx="10515600" cy="4916296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268786">
                  <a:extLst>
                    <a:ext uri="{9D8B030D-6E8A-4147-A177-3AD203B41FA5}">
                      <a16:colId xmlns:a16="http://schemas.microsoft.com/office/drawing/2014/main" val="2851245147"/>
                    </a:ext>
                  </a:extLst>
                </a:gridCol>
                <a:gridCol w="5124563">
                  <a:extLst>
                    <a:ext uri="{9D8B030D-6E8A-4147-A177-3AD203B41FA5}">
                      <a16:colId xmlns:a16="http://schemas.microsoft.com/office/drawing/2014/main" val="2369017176"/>
                    </a:ext>
                  </a:extLst>
                </a:gridCol>
                <a:gridCol w="3122251">
                  <a:extLst>
                    <a:ext uri="{9D8B030D-6E8A-4147-A177-3AD203B41FA5}">
                      <a16:colId xmlns:a16="http://schemas.microsoft.com/office/drawing/2014/main" val="2874862991"/>
                    </a:ext>
                  </a:extLst>
                </a:gridCol>
              </a:tblGrid>
              <a:tr h="36408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942137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Literature review &amp; objective abstraction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82759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Architecture design&amp; dataset identification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  <a:p>
                      <a:pPr algn="ctr">
                        <a:defRPr sz="1200"/>
                      </a:pP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109944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preprocessing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95360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NLP model development(sentiment and intent)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🟡 In Progress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26778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 engineering &amp; Paper 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30913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Predictive ML models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435555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Optimization engine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973851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Benchmarking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53631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Explainability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19067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System evaluation &amp; dashboard creation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098330"/>
                  </a:ext>
                </a:extLst>
              </a:tr>
              <a:tr h="5881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Paper2, Document preparation &amp; final evaluation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091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562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513F6-F75E-3074-7AA9-CBAE368E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DA6B-D007-9258-492C-F0264687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2EF9-2F83-0E67-723E-08CFCDDBB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17/04/26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9B5E9-83CE-F945-34A2-87157258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4113A-34F0-7441-26D3-725DE1876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8946" r="694"/>
          <a:stretch>
            <a:fillRect/>
          </a:stretch>
        </p:blipFill>
        <p:spPr>
          <a:xfrm>
            <a:off x="531275" y="1690688"/>
            <a:ext cx="11129449" cy="324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55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E057-A79A-582A-6006-760E8CAB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A6C74-1DD9-2B4E-8FBA-377E3F6FD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solution transforms customer support from reactive response handling to proactive, intelligent communication management.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0BA61-85B1-4B9A-41B6-A5AA3616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FCF84-AF9C-3A2A-1989-BB33D0D3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9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0C07-91AE-E1CC-C040-6841937C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280B-B918-9453-CF8E-E4AAE46F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FD06-F421-E8AC-6B13-69DA45C95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https://github.com/SaiSudhaV/Ecommerce-AI-Communication-Framework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6FBF5-ED99-BEC4-1144-78F5BE59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819CD-B2C1-17D7-8EAE-5E739240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8A4C17-01D5-4061-2106-3C7A16C51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487" y="2245879"/>
            <a:ext cx="6688899" cy="420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4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9C45-C153-EEEE-4B34-25D02906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2AB0-996D-1567-36E2-F27B9DFFC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Guidotti, R.,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Monreale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Ruggieri, S., Turini, F.,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Pedreschi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Giannotti, F. (2018). A Survey Of Methods For Explaining Black Box Models. ACM Computing Surveys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Graßl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Survey on Reinforcement Learning for Dialogue Systems (2019). A Survey on Reinforcement Learning for Dialogue Systems.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Nirala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K., et al. (2022). A survey on providing customer and public administration services using chatbots. (PubMed Central).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Oliveira, J. M., et al. (2024). Evaluating the Effectiveness of Time Series Transformers for Demand Forecasting in Retail. (Research preprint / conference).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Recent works on churn prediction in e-commerce — e.g., E-commerce Customers Churn Prediction Using Machine Learning (2025).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Hengst, F., et al. (2019). Reinforcement Learning for Personalized Dialogue.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ACM).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Caetano, R., et al. (2025). Transformer-Based Models for Probabilistic Time Series Forecasting. MDPI / Mathematics.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2EB66-6C3B-0BC0-2D20-987EC328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FBBA-6CED-E927-5EED-B5B1722C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3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4A9C-93AE-B5F3-F1A4-B23DCB28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44B8-A1D8-CD59-8F23-27063C55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C0E03-881C-0985-CD32-CC21B0D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1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21682</TotalTime>
  <Words>767</Words>
  <Application>Microsoft Macintosh PowerPoint</Application>
  <PresentationFormat>Widescreen</PresentationFormat>
  <Paragraphs>172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Table of Contents:</vt:lpstr>
      <vt:lpstr>Introduction</vt:lpstr>
      <vt:lpstr>Objective of the Project</vt:lpstr>
      <vt:lpstr>Architecture</vt:lpstr>
      <vt:lpstr>Need for Research</vt:lpstr>
      <vt:lpstr>Identified Gaps</vt:lpstr>
      <vt:lpstr>Project Status</vt:lpstr>
      <vt:lpstr>Dataset Description</vt:lpstr>
      <vt:lpstr>Data Preprocessing</vt:lpstr>
      <vt:lpstr>Paper Presentation</vt:lpstr>
      <vt:lpstr>Timeline of the project</vt:lpstr>
      <vt:lpstr>Timeline of the project</vt:lpstr>
      <vt:lpstr>Conclusion</vt:lpstr>
      <vt:lpstr>Project link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Pawar</dc:creator>
  <cp:lastModifiedBy>Vadisina, Sai Sudha Reddy</cp:lastModifiedBy>
  <cp:revision>20</cp:revision>
  <dcterms:created xsi:type="dcterms:W3CDTF">2025-05-09T09:30:28Z</dcterms:created>
  <dcterms:modified xsi:type="dcterms:W3CDTF">2026-04-18T00:29:59Z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2025-09-20T02:45:16Z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ded7b103-b5fe-4394-8bf7-72955552c03b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