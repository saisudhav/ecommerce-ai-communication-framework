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6" r:id="rId6"/>
    <p:sldId id="280" r:id="rId7"/>
    <p:sldId id="274" r:id="rId8"/>
    <p:sldId id="287" r:id="rId9"/>
    <p:sldId id="284" r:id="rId10"/>
    <p:sldId id="293" r:id="rId11"/>
    <p:sldId id="294" r:id="rId12"/>
    <p:sldId id="288" r:id="rId13"/>
    <p:sldId id="289" r:id="rId14"/>
    <p:sldId id="292" r:id="rId15"/>
    <p:sldId id="290" r:id="rId16"/>
    <p:sldId id="291" r:id="rId17"/>
    <p:sldId id="261" r:id="rId18"/>
    <p:sldId id="270" r:id="rId19"/>
    <p:sldId id="281" r:id="rId20"/>
    <p:sldId id="296" r:id="rId21"/>
    <p:sldId id="295" r:id="rId22"/>
    <p:sldId id="286" r:id="rId23"/>
    <p:sldId id="263" r:id="rId24"/>
    <p:sldId id="26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B1902CDF-5E03-5541-86A1-D0EC6C0F02D6}">
          <p14:sldIdLst/>
        </p14:section>
        <p14:section name="Default Section" id="{BCF2AA37-C126-864E-B817-E1D90BFCA5F0}">
          <p14:sldIdLst>
            <p14:sldId id="256"/>
            <p14:sldId id="257"/>
          </p14:sldIdLst>
        </p14:section>
        <p14:section name="Introduction" id="{5A6A4E6F-EBFA-1145-958E-3226B578165D}">
          <p14:sldIdLst>
            <p14:sldId id="258"/>
          </p14:sldIdLst>
        </p14:section>
        <p14:section name="Objective of the Project and Architecture" id="{BF94F72A-E4CF-8948-A207-C2ECF1D49F04}">
          <p14:sldIdLst>
            <p14:sldId id="259"/>
            <p14:sldId id="266"/>
          </p14:sldIdLst>
        </p14:section>
        <p14:section name="Why research is needed ?" id="{838FA1D4-7B28-C342-AF15-5E28DDAFF7D0}">
          <p14:sldIdLst>
            <p14:sldId id="280"/>
            <p14:sldId id="274"/>
          </p14:sldIdLst>
        </p14:section>
        <p14:section name="Dataset and Project Progress" id="{4FB49367-701E-E544-9B10-A5AFDA82B907}">
          <p14:sldIdLst>
            <p14:sldId id="287"/>
            <p14:sldId id="284"/>
            <p14:sldId id="293"/>
            <p14:sldId id="294"/>
            <p14:sldId id="288"/>
          </p14:sldIdLst>
        </p14:section>
        <p14:section name="Model and feature engineering overview" id="{9661363F-B84C-F34C-BCBF-706572512B8A}">
          <p14:sldIdLst>
            <p14:sldId id="289"/>
            <p14:sldId id="292"/>
            <p14:sldId id="290"/>
            <p14:sldId id="291"/>
          </p14:sldIdLst>
        </p14:section>
        <p14:section name="Timeline of the project" id="{2467D3CD-0E62-844E-AFC4-1B1751BF2F14}">
          <p14:sldIdLst>
            <p14:sldId id="261"/>
            <p14:sldId id="270"/>
          </p14:sldIdLst>
        </p14:section>
        <p14:section name="Project details and Conclusion" id="{35B84299-A2CE-944A-BA65-4B63D0EF74B2}">
          <p14:sldIdLst>
            <p14:sldId id="281"/>
            <p14:sldId id="296"/>
            <p14:sldId id="295"/>
            <p14:sldId id="286"/>
          </p14:sldIdLst>
        </p14:section>
        <p14:section name="References" id="{DA06CE97-108B-B646-A7C0-8422D64BF43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265" autoAdjust="0"/>
    <p:restoredTop sz="85704"/>
  </p:normalViewPr>
  <p:slideViewPr>
    <p:cSldViewPr snapToGrid="0">
      <p:cViewPr varScale="1">
        <p:scale>
          <a:sx n="10" d="100"/>
          <a:sy n="10" d="100"/>
        </p:scale>
        <p:origin x="192" y="2152"/>
      </p:cViewPr>
      <p:guideLst/>
    </p:cSldViewPr>
  </p:slideViewPr>
  <p:outlineViewPr>
    <p:cViewPr>
      <p:scale>
        <a:sx n="33" d="100"/>
        <a:sy n="33" d="100"/>
      </p:scale>
      <p:origin x="0" y="-8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5/22/26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934E-70FA-4538-A02C-6D23660C659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239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934E-70FA-4538-A02C-6D23660C659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37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E750-834C-A06F-17D6-EF64D639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E94993-74A7-A3F9-F897-E375791C2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95529-29E6-0484-9737-E1783A570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3694F-8755-0FA0-A940-A829E8402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934E-70FA-4538-A02C-6D23660C659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669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AFE4E-10DB-6E25-EDB7-836C02DE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10411-3671-7FFA-4A40-1BC9B604E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8EA5C-1208-622F-80D8-05272B863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57117E-4D6A-892D-C0C0-3F895D6E8D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56934E-70FA-4538-A02C-6D23660C659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1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22/05/26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22/05/26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22/05/26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22/05/26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22/05/26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22/05/26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22/05/26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22/05/26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22/05/26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22/05/26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22/05/26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22/05/26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3.xml"/><Relationship Id="rId3" Type="http://schemas.openxmlformats.org/officeDocument/2006/relationships/slide" Target="slide4.xml"/><Relationship Id="rId7" Type="http://schemas.openxmlformats.org/officeDocument/2006/relationships/slide" Target="slide19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7.xml"/><Relationship Id="rId5" Type="http://schemas.openxmlformats.org/officeDocument/2006/relationships/slide" Target="slide9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SaiSudhaV/Ecommerce-AI-Communication-Framework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399637" y="2540021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875660" y="2810598"/>
            <a:ext cx="104406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Hybrid AI Framework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Predictive and Explainable Customer Communication Optimization in E-Commerce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00139" y="3909576"/>
            <a:ext cx="455631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Sai Sudha </a:t>
            </a:r>
            <a:r>
              <a:rPr lang="en-US" sz="2400" b="1" dirty="0" err="1">
                <a:solidFill>
                  <a:srgbClr val="002060"/>
                </a:solidFill>
              </a:rPr>
              <a:t>Vadisina</a:t>
            </a:r>
            <a:r>
              <a:rPr lang="en-US" sz="2400" b="1" dirty="0">
                <a:solidFill>
                  <a:srgbClr val="002060"/>
                </a:solidFill>
              </a:rPr>
              <a:t> (MT24AAC019)</a:t>
            </a:r>
          </a:p>
          <a:p>
            <a:pPr algn="ctr"/>
            <a:r>
              <a:rPr lang="en-US" sz="2000" b="1" dirty="0" err="1"/>
              <a:t>DevOPs</a:t>
            </a:r>
            <a:r>
              <a:rPr lang="en-US" sz="2000" b="1" dirty="0"/>
              <a:t> Engineer III in Amazon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36133" y="5400139"/>
            <a:ext cx="26843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>
                <a:solidFill>
                  <a:srgbClr val="002060"/>
                </a:solidFill>
              </a:rPr>
              <a:t>Dr.Pradnya</a:t>
            </a:r>
            <a:r>
              <a:rPr lang="en-US" sz="2400" b="1" dirty="0">
                <a:solidFill>
                  <a:srgbClr val="002060"/>
                </a:solidFill>
              </a:rPr>
              <a:t> H Ghare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524358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and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Final Evaluation(24/05/2026)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 action="ppaction://hlinksldjump"/>
              </a:rPr>
              <a:t>Introduction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Objective for the project and architecture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Why research is needed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Project Progress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Proposed Solution</a:t>
            </a:r>
            <a:endParaRPr lang="en-US" dirty="0"/>
          </a:p>
          <a:p>
            <a:r>
              <a:rPr lang="en-US" dirty="0">
                <a:hlinkClick r:id="rId6" action="ppaction://hlinksldjump"/>
              </a:rPr>
              <a:t>Timeline of the project</a:t>
            </a:r>
            <a:endParaRPr lang="en-US" dirty="0"/>
          </a:p>
          <a:p>
            <a:r>
              <a:rPr lang="en-US" dirty="0">
                <a:hlinkClick r:id="rId7" action="ppaction://hlinksldjump"/>
              </a:rPr>
              <a:t>Conclusion</a:t>
            </a:r>
            <a:endParaRPr lang="en-US" dirty="0"/>
          </a:p>
          <a:p>
            <a:r>
              <a:rPr lang="en-US" dirty="0">
                <a:hlinkClick r:id="rId8" action="ppaction://hlinksldjump"/>
              </a:rPr>
              <a:t>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E-commerce platforms manage high-volume customer communications</a:t>
            </a:r>
          </a:p>
          <a:p>
            <a:r>
              <a:rPr lang="en-US" dirty="0"/>
              <a:t>Existing systems are reactive and rule-based, where sentiment detection alone is insufficient</a:t>
            </a:r>
          </a:p>
          <a:p>
            <a:r>
              <a:rPr lang="en-US" dirty="0"/>
              <a:t>Need for predictive and proactive AI-driven communication optimization</a:t>
            </a:r>
          </a:p>
          <a:p>
            <a:r>
              <a:rPr lang="en-US" dirty="0"/>
              <a:t>Our system acts as frontline defense for the customers and advertisers.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hybrid AI framework for e-commerce communication</a:t>
            </a:r>
          </a:p>
          <a:p>
            <a:r>
              <a:rPr lang="en-US" dirty="0"/>
              <a:t>Predict escalation, dissatisfaction, and churn</a:t>
            </a:r>
          </a:p>
          <a:p>
            <a:r>
              <a:rPr lang="en-US" dirty="0"/>
              <a:t>Optimize routing and response strategies</a:t>
            </a:r>
          </a:p>
          <a:p>
            <a:r>
              <a:rPr lang="en-US" dirty="0"/>
              <a:t>Integrate structured + unstructured data</a:t>
            </a:r>
          </a:p>
          <a:p>
            <a:r>
              <a:rPr lang="en-US" dirty="0"/>
              <a:t>Enable explainable AI-based decision support</a:t>
            </a:r>
          </a:p>
          <a:p>
            <a:r>
              <a:rPr lang="en-US" dirty="0"/>
              <a:t>Customer satisfaction improves.</a:t>
            </a:r>
          </a:p>
          <a:p>
            <a:r>
              <a:rPr lang="en-US" dirty="0"/>
              <a:t>Manual effort from support reduces as they can focus on the actual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7CF1-53B3-9EDF-EBD0-AAC900B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85109E-9939-C3C3-8855-45663FAD0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7" t="12012" r="16839" b="6883"/>
          <a:stretch>
            <a:fillRect/>
          </a:stretch>
        </p:blipFill>
        <p:spPr>
          <a:xfrm>
            <a:off x="3344450" y="1332923"/>
            <a:ext cx="3607495" cy="53178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930F-1F93-CD6C-D87E-A8655B60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2BE96-5FFF-CE0D-B9AB-2809772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65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3DFF-9421-9C4A-A8EA-24395A31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8" y="159620"/>
            <a:ext cx="10515600" cy="1325563"/>
          </a:xfrm>
        </p:spPr>
        <p:txBody>
          <a:bodyPr/>
          <a:lstStyle/>
          <a:p>
            <a:r>
              <a:rPr lang="en-US" dirty="0"/>
              <a:t>Need for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D13B-299E-22BA-FAEC-AF57B1C3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FFEEE-74C3-6689-A266-BD8636A8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E5219-F3A3-7574-9420-F924A426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56"/>
            <a:ext cx="10515600" cy="4351338"/>
          </a:xfrm>
        </p:spPr>
        <p:txBody>
          <a:bodyPr/>
          <a:lstStyle/>
          <a:p>
            <a:r>
              <a:rPr lang="en-US" dirty="0"/>
              <a:t>Rapid growth in e-commerce customer interactions</a:t>
            </a:r>
          </a:p>
          <a:p>
            <a:r>
              <a:rPr lang="en-US" dirty="0"/>
              <a:t>High operational cost of customer support</a:t>
            </a:r>
          </a:p>
          <a:p>
            <a:r>
              <a:rPr lang="en-US" dirty="0"/>
              <a:t>Existing systems are reactive and rule-based</a:t>
            </a:r>
          </a:p>
          <a:p>
            <a:r>
              <a:rPr lang="en-US" dirty="0"/>
              <a:t>Sentiment detection alone is insufficient</a:t>
            </a:r>
          </a:p>
          <a:p>
            <a:r>
              <a:rPr lang="en-US" dirty="0"/>
              <a:t>No integrated predictive + optimization framework</a:t>
            </a:r>
          </a:p>
          <a:p>
            <a:r>
              <a:rPr lang="en-US" dirty="0"/>
              <a:t>Need for proactive, explainable AI-driven communication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43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Identified 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Reactive Communication Systems</a:t>
            </a:r>
          </a:p>
          <a:p>
            <a:r>
              <a:rPr lang="en-US" dirty="0"/>
              <a:t>Limited Explainability</a:t>
            </a:r>
          </a:p>
          <a:p>
            <a:r>
              <a:rPr lang="en-US" dirty="0"/>
              <a:t>Absence of Optimization Layer</a:t>
            </a:r>
          </a:p>
          <a:p>
            <a:r>
              <a:rPr lang="en-US" dirty="0"/>
              <a:t>No Structured + Unstructured Data Fusion</a:t>
            </a:r>
          </a:p>
          <a:p>
            <a:r>
              <a:rPr lang="en-US" dirty="0"/>
              <a:t>Lack of Predictive Modeling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AC9B4-9480-0802-E447-57F4BB90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31570-3EA6-25EF-F67E-3B78E547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6143-5C69-92F6-8A43-6A117320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5BFA-4B6B-BB06-045A-8D8C5B78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Status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4CC84-9EC0-7F14-190E-AFA7F41E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BD47BA-ED48-1A98-8DDF-6E31B008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100FE3-0BC4-F50F-BD27-B3F3383EC8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3040"/>
            <a:ext cx="10134600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collection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Dataset Validation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 preprocessing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Calibri" panose="020F0502020204030204" pitchFamily="34" charset="0"/>
                <a:cs typeface="Calibri" panose="020F0502020204030204" pitchFamily="34" charset="0"/>
              </a:rPr>
              <a:t>Data readiness for NLP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Feature engineering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NLP preparation</a:t>
            </a:r>
            <a:endParaRPr lang="en-US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96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26E1-1182-42E9-D52D-49BB4BF9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4BA46-9417-BE1E-A071-D712AC63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5828-B759-7AF1-1482-43E08C44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BC3F4-964A-0E16-BC03-D0B5DD58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C86E277-B935-E1DA-0E29-CD6DF591C5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66697"/>
            <a:ext cx="8342870" cy="4467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Key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Features Identified: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Text features → sentiment, intent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Behavioral features → frequency, response delay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Transactional features → order value, returns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Target Variables (Planned):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Churn probability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Escalation likelihood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Customer dissatisfaction</a:t>
            </a:r>
          </a:p>
        </p:txBody>
      </p:sp>
    </p:spTree>
    <p:extLst>
      <p:ext uri="{BB962C8B-B14F-4D97-AF65-F5344CB8AC3E}">
        <p14:creationId xmlns:p14="http://schemas.microsoft.com/office/powerpoint/2010/main" val="317965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0F9D3-74A7-BA1D-EA73-10D89B50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4CCB-A6A1-F342-29D3-C628C439F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2FA2F-E794-0D85-653D-0F638F0238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54492-F168-BC34-8F0B-793D293B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365C9362-5238-7C37-2153-42C76F7C63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981783"/>
              </p:ext>
            </p:extLst>
          </p:nvPr>
        </p:nvGraphicFramePr>
        <p:xfrm>
          <a:off x="974124" y="2123175"/>
          <a:ext cx="9578546" cy="2006040"/>
        </p:xfrm>
        <a:graphic>
          <a:graphicData uri="http://schemas.openxmlformats.org/drawingml/2006/table">
            <a:tbl>
              <a:tblPr/>
              <a:tblGrid>
                <a:gridCol w="4789273">
                  <a:extLst>
                    <a:ext uri="{9D8B030D-6E8A-4147-A177-3AD203B41FA5}">
                      <a16:colId xmlns:a16="http://schemas.microsoft.com/office/drawing/2014/main" val="2523764159"/>
                    </a:ext>
                  </a:extLst>
                </a:gridCol>
                <a:gridCol w="4789273">
                  <a:extLst>
                    <a:ext uri="{9D8B030D-6E8A-4147-A177-3AD203B41FA5}">
                      <a16:colId xmlns:a16="http://schemas.microsoft.com/office/drawing/2014/main" val="2536423045"/>
                    </a:ext>
                  </a:extLst>
                </a:gridCol>
              </a:tblGrid>
              <a:tr h="3605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/>
                        <a:t>Dataset Component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dirty="0"/>
                        <a:t>Description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657855"/>
                  </a:ext>
                </a:extLst>
              </a:tr>
              <a:tr h="3830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Customer Messages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Chats, reviews, complaints, feedback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1574"/>
                  </a:ext>
                </a:extLst>
              </a:tr>
              <a:tr h="3707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Transactional Data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Order value, purchase history, returns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451626"/>
                  </a:ext>
                </a:extLst>
              </a:tr>
              <a:tr h="345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Behavioral Data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Interaction frequency, response delay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559129"/>
                  </a:ext>
                </a:extLst>
              </a:tr>
              <a:tr h="3459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NLP Features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Sentiment, intent, keyword patterns</a:t>
                      </a:r>
                    </a:p>
                  </a:txBody>
                  <a:tcPr marL="23257" marR="23257" marT="11628" marB="1162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75016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3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9EA2E-776E-C8D5-056F-958A73638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E8062-75C8-B2B9-238B-54469B97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targets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987C1-2ECA-5A17-53A8-C63CA556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589A0-5648-3573-D8A6-CAC180E65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A59E16D-DC8C-D205-FB16-027B89A515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12647"/>
            <a:ext cx="10134600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Enable proactive customer support </a:t>
            </a:r>
          </a:p>
          <a:p>
            <a:r>
              <a:rPr lang="en-US" dirty="0"/>
              <a:t>Improve customer retention </a:t>
            </a:r>
          </a:p>
          <a:p>
            <a:r>
              <a:rPr lang="en-US" dirty="0"/>
              <a:t>Reduce operational costs </a:t>
            </a:r>
          </a:p>
          <a:p>
            <a:r>
              <a:rPr lang="en-US" dirty="0"/>
              <a:t>Optimize communication workflows </a:t>
            </a:r>
          </a:p>
          <a:p>
            <a:r>
              <a:rPr lang="en-US" dirty="0"/>
              <a:t>Support AI-driven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001332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909E2-20AE-1FBE-F8C8-EEBA68178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03565-A8C6-B0E4-72E0-C8C07B52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813D6-7F38-9651-4BEB-8B34EE90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16644-63E5-2C62-879C-C83A740A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38FCA5-0E14-DD47-87CB-F6ED15D807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4408"/>
            <a:ext cx="1071649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Multi-source Data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Combined customer chats, transactional data, and behavioral logs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duplicates and irrelevant records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Handled missing values and inconsistent formats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Preprocessing (NLP)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 and lowercasing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Stop word removal and basic text normalization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sentiment-related indicators (planned)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behavioral features (interaction frequency, response time)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Categorical Encoding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categorical variables into numerical format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structured + unstructured data for unified analysis</a:t>
            </a:r>
          </a:p>
        </p:txBody>
      </p:sp>
    </p:spTree>
    <p:extLst>
      <p:ext uri="{BB962C8B-B14F-4D97-AF65-F5344CB8AC3E}">
        <p14:creationId xmlns:p14="http://schemas.microsoft.com/office/powerpoint/2010/main" val="2403723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2C7F2-F52C-38B4-8BAB-7F3A6EDE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DA46-DAC6-4EB0-1931-35DFBFA77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techniques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55027-9292-36A7-1CCE-A91BF24EE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D0DF03-1F62-D0B2-B4FE-207C172AC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743144A-FC73-F141-A09A-E871418E7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527522"/>
            <a:ext cx="10515600" cy="210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Lowercase conversion </a:t>
            </a:r>
          </a:p>
          <a:p>
            <a:r>
              <a:rPr lang="en-US" sz="1800" dirty="0"/>
              <a:t>Punctuation removal </a:t>
            </a:r>
          </a:p>
          <a:p>
            <a:r>
              <a:rPr lang="en-US" sz="1800" dirty="0"/>
              <a:t>Stop word removal - Removed common non-informative words like the ,is, and &amp; of for improvising model efficiency.</a:t>
            </a:r>
          </a:p>
          <a:p>
            <a:r>
              <a:rPr lang="en-US" sz="1800" dirty="0"/>
              <a:t>Tokenization - Split sentences into words/tokens.</a:t>
            </a:r>
          </a:p>
          <a:p>
            <a:r>
              <a:rPr lang="en-US" sz="1800" dirty="0"/>
              <a:t>Lemmatization - Reduced words to root form.</a:t>
            </a:r>
          </a:p>
        </p:txBody>
      </p:sp>
    </p:spTree>
    <p:extLst>
      <p:ext uri="{BB962C8B-B14F-4D97-AF65-F5344CB8AC3E}">
        <p14:creationId xmlns:p14="http://schemas.microsoft.com/office/powerpoint/2010/main" val="3397339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0D4D-E9F6-E709-37D4-07CD906DE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01115-541E-59BC-D8E9-FED1F02D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NLP techniques Advantages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3E164-F146-0D4A-6937-A2DB52E284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51B82-222D-3878-1460-503F3C0BE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D2928B9-3C19-9FD7-D413-28E92B74CC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652171"/>
            <a:ext cx="10515600" cy="1851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Faster customer interaction analysis </a:t>
            </a:r>
          </a:p>
          <a:p>
            <a:r>
              <a:rPr lang="en-US" sz="1800" dirty="0"/>
              <a:t>Improved communication automation </a:t>
            </a:r>
          </a:p>
          <a:p>
            <a:r>
              <a:rPr lang="en-US" sz="1800" dirty="0"/>
              <a:t>Reduced manual customer support effort </a:t>
            </a:r>
          </a:p>
          <a:p>
            <a:r>
              <a:rPr lang="en-US" sz="1800" dirty="0"/>
              <a:t>Scalable AI-based workflow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9803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BF9E-FB7C-8EC1-E4BE-BCAD59D49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D070-7D07-59D5-A9D0-440B2CC2F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F2261-CFAC-B682-24F8-AC7854465C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34668-5E87-6B8A-F9A5-E67332103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194D5D2-9E06-6AEB-7530-CC97EBE5F4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3029714"/>
            <a:ext cx="10515600" cy="1096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TF-IDF Vectorization - Converted text into weighted numerical vectors.</a:t>
            </a:r>
          </a:p>
          <a:p>
            <a:r>
              <a:rPr lang="en-US" sz="1800" dirty="0"/>
              <a:t>N-gram analysis - Helps capture contextual meaning.</a:t>
            </a:r>
          </a:p>
          <a:p>
            <a:r>
              <a:rPr lang="en-US" sz="1800" dirty="0"/>
              <a:t>Word frequency patterns </a:t>
            </a:r>
          </a:p>
        </p:txBody>
      </p:sp>
    </p:spTree>
    <p:extLst>
      <p:ext uri="{BB962C8B-B14F-4D97-AF65-F5344CB8AC3E}">
        <p14:creationId xmlns:p14="http://schemas.microsoft.com/office/powerpoint/2010/main" val="2286894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F966D-99CE-D5BC-0703-B6BCDDB3C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DB8A-7B74-9BCE-8C7E-482447B25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Engineering Impact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21A99-9118-F52A-F63E-D681581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22/05/26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C2BAE-E3DC-C890-6C66-E8D56EB3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3379F4-EAB2-960F-F61B-AB17C10611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840944"/>
            <a:ext cx="10515600" cy="147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Better sentiment classification </a:t>
            </a:r>
          </a:p>
          <a:p>
            <a:r>
              <a:rPr lang="en-US" sz="1800" dirty="0"/>
              <a:t>Enhanced intent detection </a:t>
            </a:r>
          </a:p>
          <a:p>
            <a:r>
              <a:rPr lang="en-US" sz="1800" dirty="0"/>
              <a:t>Reduced noisy text data </a:t>
            </a:r>
          </a:p>
          <a:p>
            <a:r>
              <a:rPr lang="en-US" sz="1800" dirty="0"/>
              <a:t>Improved NLP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1266324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92" y="136525"/>
            <a:ext cx="10515600" cy="1325563"/>
          </a:xfrm>
        </p:spPr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F7E48C-DD43-6D7C-D561-0DCF1917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39749"/>
              </p:ext>
            </p:extLst>
          </p:nvPr>
        </p:nvGraphicFramePr>
        <p:xfrm>
          <a:off x="838200" y="1336244"/>
          <a:ext cx="10515600" cy="491629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268786">
                  <a:extLst>
                    <a:ext uri="{9D8B030D-6E8A-4147-A177-3AD203B41FA5}">
                      <a16:colId xmlns:a16="http://schemas.microsoft.com/office/drawing/2014/main" val="2851245147"/>
                    </a:ext>
                  </a:extLst>
                </a:gridCol>
                <a:gridCol w="5124563">
                  <a:extLst>
                    <a:ext uri="{9D8B030D-6E8A-4147-A177-3AD203B41FA5}">
                      <a16:colId xmlns:a16="http://schemas.microsoft.com/office/drawing/2014/main" val="2369017176"/>
                    </a:ext>
                  </a:extLst>
                </a:gridCol>
                <a:gridCol w="3122251">
                  <a:extLst>
                    <a:ext uri="{9D8B030D-6E8A-4147-A177-3AD203B41FA5}">
                      <a16:colId xmlns:a16="http://schemas.microsoft.com/office/drawing/2014/main" val="2874862991"/>
                    </a:ext>
                  </a:extLst>
                </a:gridCol>
              </a:tblGrid>
              <a:tr h="3640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4213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Literature review &amp; objective abstraction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82759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Architecture design&amp; dataset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  <a:p>
                      <a:pPr algn="ctr">
                        <a:defRPr sz="1200"/>
                      </a:pP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09944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preprocessing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95360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NLP model development(sentiment and intent)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26778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 engineering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30913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Predictive ML models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435555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Optimization engine 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973851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Benchmarking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53631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Explainability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1906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System evaluation &amp; dashboard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098330"/>
                  </a:ext>
                </a:extLst>
              </a:tr>
              <a:tr h="5881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Paper, Document preparation &amp; final evaluation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09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13F6-F75E-3074-7AA9-CBAE368E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DA6B-D007-9258-492C-F0264687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2EF9-2F83-0E67-723E-08CFCDDB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22/05/26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9B5E9-83CE-F945-34A2-87157258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4113A-34F0-7441-26D3-725DE1876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8946" r="694"/>
          <a:stretch>
            <a:fillRect/>
          </a:stretch>
        </p:blipFill>
        <p:spPr>
          <a:xfrm>
            <a:off x="531275" y="1690688"/>
            <a:ext cx="11129449" cy="324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5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E057-A79A-582A-6006-760E8CA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 of Action – (Immediate)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A6C74-1DD9-2B4E-8FBA-377E3F6F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Fine-tune Logistic Regression &amp; SVM </a:t>
            </a:r>
          </a:p>
          <a:p>
            <a:r>
              <a:rPr lang="en-US" dirty="0"/>
              <a:t>Build confusion matrix evaluation </a:t>
            </a:r>
          </a:p>
          <a:p>
            <a:r>
              <a:rPr lang="en-US" dirty="0"/>
              <a:t>Add precision / recall / F1-score metrics </a:t>
            </a:r>
          </a:p>
          <a:p>
            <a:r>
              <a:rPr lang="en-US" dirty="0"/>
              <a:t>Implement intent classification labels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BA61-85B1-4B9A-41B6-A5AA3616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FCF84-AF9C-3A2A-1989-BB33D0D3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9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7055C-D337-2ACF-406A-9D64EC931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5902-E016-2C4C-E9C9-98105E89C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Plan of Action - (advanced)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3C4D-3517-4F73-0FF3-8E737D7C6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 models (BERT) </a:t>
            </a:r>
          </a:p>
          <a:p>
            <a:r>
              <a:rPr lang="en-US" dirty="0"/>
              <a:t>Explainable AI (SHAP/LIME) </a:t>
            </a:r>
          </a:p>
          <a:p>
            <a:r>
              <a:rPr lang="en-US" dirty="0"/>
              <a:t>Reinforcement learning optimization </a:t>
            </a:r>
          </a:p>
          <a:p>
            <a:r>
              <a:rPr lang="en-US" dirty="0"/>
              <a:t>Hybrid predictive communication engine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C8790-95EE-122C-296F-6BC42498F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008EC-8A3D-C560-7A61-87F0C05E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09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0B0C3-B1CB-EB7D-67F0-A710B5AA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1902E-187A-8DFE-C3DB-25676A9C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59C30-964F-F664-4C54-D58894673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solution transforms customer support from reactive response handling to proactive, intelligent communication management.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79615-396F-24E1-E96B-F9CE4A54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226F5-D5DF-1C63-6411-F42419A3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2792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0C07-91AE-E1CC-C040-6841937C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280B-B918-9453-CF8E-E4AAE46F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FD06-F421-E8AC-6B13-69DA45C95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hlinkClick r:id="rId2"/>
              </a:rPr>
              <a:t>https://github.com/SaiSudhaV/Ecommerce-AI-Communication-Framework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FBF5-ED99-BEC4-1144-78F5BE59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19CD-B2C1-17D7-8EAE-5E73924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8A4C17-01D5-4061-2106-3C7A16C51B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487" y="2245879"/>
            <a:ext cx="6688899" cy="4202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4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Guidotti, R.,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Monreale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Ruggieri, S., Turini, F.,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Pedreschi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Giannotti, F. (2018). A Survey Of Methods For Explaining Black Box Models. ACM Computing Surveys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Graßl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Survey on Reinforcement Learning for Dialogue Systems (2019). A Survey on Reinforcement Learning for Dialogue Systems.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K., et al. (2022). A survey on providing customer and public administration services using chatbots. (PubMed Central).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Oliveira, J. M., et al. (2024). Evaluating the Effectiveness of Time Series Transformers for Demand Forecasting in Retail. (Research preprint / conference).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works on churn prediction in e-commerce — e.g., E-commerce Customers Churn Prediction Using Machine Learning (2025).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Hengst, F., et al. (2019). Reinforcement Learning for Personalized Dialogue.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ACM).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Caetano, R., et al. (2025). Transformer-Based Models for Probabilistic Time Series Forecasting. MDPI / Mathematics.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35809</TotalTime>
  <Words>968</Words>
  <Application>Microsoft Macintosh PowerPoint</Application>
  <PresentationFormat>Widescreen</PresentationFormat>
  <Paragraphs>231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Table of Contents:</vt:lpstr>
      <vt:lpstr>Introduction</vt:lpstr>
      <vt:lpstr>Objective of the Project</vt:lpstr>
      <vt:lpstr>Architecture</vt:lpstr>
      <vt:lpstr>Need for Research</vt:lpstr>
      <vt:lpstr>Identified Gaps</vt:lpstr>
      <vt:lpstr>Project Status</vt:lpstr>
      <vt:lpstr>Dataset Description</vt:lpstr>
      <vt:lpstr>Dataset Description</vt:lpstr>
      <vt:lpstr>Dataset targets</vt:lpstr>
      <vt:lpstr>Data Preprocessing</vt:lpstr>
      <vt:lpstr>NLP techniques used</vt:lpstr>
      <vt:lpstr>NLP techniques Advantages</vt:lpstr>
      <vt:lpstr>Feature Engineering techniques</vt:lpstr>
      <vt:lpstr>Feature Engineering Impact </vt:lpstr>
      <vt:lpstr>Timeline of the project</vt:lpstr>
      <vt:lpstr>Timeline of the project</vt:lpstr>
      <vt:lpstr>Next Plan of Action – (Immediate)</vt:lpstr>
      <vt:lpstr>Next Plan of Action - (advanced)</vt:lpstr>
      <vt:lpstr>Conclusion</vt:lpstr>
      <vt:lpstr>Project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Vadisina, Sai Sudha Reddy</cp:lastModifiedBy>
  <cp:revision>26</cp:revision>
  <dcterms:created xsi:type="dcterms:W3CDTF">2025-05-09T09:30:28Z</dcterms:created>
  <dcterms:modified xsi:type="dcterms:W3CDTF">2026-06-01T07:14:33Z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2025-09-20T02:45:16Z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ded7b103-b5fe-4394-8bf7-72955552c03b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